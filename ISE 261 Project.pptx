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5143500" cx="9144000"/>
  <p:notesSz cx="6858000" cy="9144000"/>
  <p:embeddedFontLst>
    <p:embeddedFont>
      <p:font typeface="Raleway"/>
      <p:regular r:id="rId50"/>
      <p:bold r:id="rId51"/>
      <p:italic r:id="rId52"/>
      <p:boldItalic r:id="rId53"/>
    </p:embeddedFont>
    <p:embeddedFont>
      <p:font typeface="Raleway SemiBold"/>
      <p:regular r:id="rId54"/>
      <p:bold r:id="rId55"/>
      <p:italic r:id="rId56"/>
      <p:boldItalic r:id="rId57"/>
    </p:embeddedFont>
    <p:embeddedFont>
      <p:font typeface="Raleway ExtraBold"/>
      <p:bold r:id="rId58"/>
      <p:boldItalic r:id="rId59"/>
    </p:embeddedFont>
    <p:embeddedFont>
      <p:font typeface="Raleway Medium"/>
      <p:regular r:id="rId60"/>
      <p:bold r:id="rId61"/>
      <p:italic r:id="rId62"/>
      <p:boldItalic r:id="rId63"/>
    </p:embeddedFont>
    <p:embeddedFont>
      <p:font typeface="PT Sans"/>
      <p:regular r:id="rId64"/>
      <p:bold r:id="rId65"/>
      <p:italic r:id="rId66"/>
      <p:boldItalic r:id="rId67"/>
    </p:embeddedFont>
    <p:embeddedFont>
      <p:font typeface="Open Sans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69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C5081E-FBD2-4C0C-9C74-7BB37406A5C8}">
  <a:tblStyle styleId="{77C5081E-FBD2-4C0C-9C74-7BB37406A5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9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penSans-boldItalic.fntdata"/><Relationship Id="rId70" Type="http://schemas.openxmlformats.org/officeDocument/2006/relationships/font" Target="fonts/OpenSans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alewayMedium-italic.fntdata"/><Relationship Id="rId61" Type="http://schemas.openxmlformats.org/officeDocument/2006/relationships/font" Target="fonts/RalewayMedium-bold.fntdata"/><Relationship Id="rId20" Type="http://schemas.openxmlformats.org/officeDocument/2006/relationships/slide" Target="slides/slide14.xml"/><Relationship Id="rId64" Type="http://schemas.openxmlformats.org/officeDocument/2006/relationships/font" Target="fonts/PTSans-regular.fntdata"/><Relationship Id="rId63" Type="http://schemas.openxmlformats.org/officeDocument/2006/relationships/font" Target="fonts/RalewayMedium-boldItalic.fntdata"/><Relationship Id="rId22" Type="http://schemas.openxmlformats.org/officeDocument/2006/relationships/slide" Target="slides/slide16.xml"/><Relationship Id="rId66" Type="http://schemas.openxmlformats.org/officeDocument/2006/relationships/font" Target="fonts/PTSans-italic.fntdata"/><Relationship Id="rId21" Type="http://schemas.openxmlformats.org/officeDocument/2006/relationships/slide" Target="slides/slide15.xml"/><Relationship Id="rId65" Type="http://schemas.openxmlformats.org/officeDocument/2006/relationships/font" Target="fonts/PTSans-bold.fntdata"/><Relationship Id="rId24" Type="http://schemas.openxmlformats.org/officeDocument/2006/relationships/slide" Target="slides/slide18.xml"/><Relationship Id="rId68" Type="http://schemas.openxmlformats.org/officeDocument/2006/relationships/font" Target="fonts/OpenSans-regular.fntdata"/><Relationship Id="rId23" Type="http://schemas.openxmlformats.org/officeDocument/2006/relationships/slide" Target="slides/slide17.xml"/><Relationship Id="rId67" Type="http://schemas.openxmlformats.org/officeDocument/2006/relationships/font" Target="fonts/PTSans-boldItalic.fntdata"/><Relationship Id="rId60" Type="http://schemas.openxmlformats.org/officeDocument/2006/relationships/font" Target="fonts/RalewayMedium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penSans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aleway-bold.fntdata"/><Relationship Id="rId50" Type="http://schemas.openxmlformats.org/officeDocument/2006/relationships/font" Target="fonts/Raleway-regular.fntdata"/><Relationship Id="rId53" Type="http://schemas.openxmlformats.org/officeDocument/2006/relationships/font" Target="fonts/Raleway-boldItalic.fntdata"/><Relationship Id="rId52" Type="http://schemas.openxmlformats.org/officeDocument/2006/relationships/font" Target="fonts/Raleway-italic.fntdata"/><Relationship Id="rId11" Type="http://schemas.openxmlformats.org/officeDocument/2006/relationships/slide" Target="slides/slide5.xml"/><Relationship Id="rId55" Type="http://schemas.openxmlformats.org/officeDocument/2006/relationships/font" Target="fonts/RalewaySemiBold-bold.fntdata"/><Relationship Id="rId10" Type="http://schemas.openxmlformats.org/officeDocument/2006/relationships/slide" Target="slides/slide4.xml"/><Relationship Id="rId54" Type="http://schemas.openxmlformats.org/officeDocument/2006/relationships/font" Target="fonts/RalewaySemiBold-regular.fntdata"/><Relationship Id="rId13" Type="http://schemas.openxmlformats.org/officeDocument/2006/relationships/slide" Target="slides/slide7.xml"/><Relationship Id="rId57" Type="http://schemas.openxmlformats.org/officeDocument/2006/relationships/font" Target="fonts/RalewaySemiBold-boldItalic.fntdata"/><Relationship Id="rId12" Type="http://schemas.openxmlformats.org/officeDocument/2006/relationships/slide" Target="slides/slide6.xml"/><Relationship Id="rId56" Type="http://schemas.openxmlformats.org/officeDocument/2006/relationships/font" Target="fonts/RalewaySemiBold-italic.fntdata"/><Relationship Id="rId15" Type="http://schemas.openxmlformats.org/officeDocument/2006/relationships/slide" Target="slides/slide9.xml"/><Relationship Id="rId59" Type="http://schemas.openxmlformats.org/officeDocument/2006/relationships/font" Target="fonts/RalewayExtraBold-boldItalic.fntdata"/><Relationship Id="rId14" Type="http://schemas.openxmlformats.org/officeDocument/2006/relationships/slide" Target="slides/slide8.xml"/><Relationship Id="rId58" Type="http://schemas.openxmlformats.org/officeDocument/2006/relationships/font" Target="fonts/RalewayExtra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5fcb8e68a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5fcb8e68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5e958d1f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5e958d1f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60684dec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60684dec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5fcb8e68a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5fcb8e68a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60684dec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60684dec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5e958d1f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a5e958d1f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60684dec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a60684dec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60684dec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a60684dec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60684dec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a60684dec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60684dec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a60684dec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f727370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af727370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f727370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af727370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f727370d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f727370d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f727370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f727370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f727370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f727370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f727370d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af727370d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f727370d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f727370d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f727370d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af727370d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f727370d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af727370d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f727370d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f727370d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f727370d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af727370d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f727370d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af727370d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f727370d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af727370d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3b309fe6c057e78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3b309fe6c057e78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4101a03e9adc9a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4101a03e9adc9a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4101a03e9adc9a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4101a03e9adc9a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4101a03e9adc9a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4101a03e9adc9a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4101a03e9adc9a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4101a03e9adc9a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4101a03e9adc9a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4101a03e9adc9a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4101a03e9adc9a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4101a03e9adc9a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89f75232025b35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89f75232025b35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589f75232025b359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589f75232025b359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a5e958d1f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a5e958d1f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54dda1946d_4_2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54dda1946d_4_2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69c58ea63f4bd8a9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69c58ea63f4bd8a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69c58ea63f4bd8a9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69c58ea63f4bd8a9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69c58ea63f4bd8a9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69c58ea63f4bd8a9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69c58ea63f4bd8a9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69c58ea63f4bd8a9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69c58ea63f4bd8a9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69c58ea63f4bd8a9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3b309fe6c057e7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3b309fe6c057e7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97050"/>
            <a:ext cx="6651600" cy="156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33324" y="3906950"/>
            <a:ext cx="6065400" cy="414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858075" y="1948525"/>
            <a:ext cx="3918900" cy="19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4963434" y="924863"/>
            <a:ext cx="954000" cy="954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/>
          <p:nvPr>
            <p:ph idx="3" type="pic"/>
          </p:nvPr>
        </p:nvSpPr>
        <p:spPr>
          <a:xfrm>
            <a:off x="1322338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" name="Google Shape;15;p3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16" name="Google Shape;16;p3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flipH="1" rot="10800000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flipH="1" rot="10800000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flipH="1" rot="10800000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1350150"/>
            <a:ext cx="2776200" cy="11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25" y="2469150"/>
            <a:ext cx="2776200" cy="13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1628225" y="3279925"/>
            <a:ext cx="62676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subTitle"/>
          </p:nvPr>
        </p:nvSpPr>
        <p:spPr>
          <a:xfrm>
            <a:off x="1628225" y="1845299"/>
            <a:ext cx="62676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1628225" y="1588175"/>
            <a:ext cx="6267600" cy="3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4" type="subTitle"/>
          </p:nvPr>
        </p:nvSpPr>
        <p:spPr>
          <a:xfrm>
            <a:off x="1628225" y="3022850"/>
            <a:ext cx="6267600" cy="3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2" name="Google Shape;32;p5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33" name="Google Shape;33;p5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6" name="Google Shape;36;p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9" name="Google Shape;39;p6"/>
          <p:cNvGrpSpPr/>
          <p:nvPr/>
        </p:nvGrpSpPr>
        <p:grpSpPr>
          <a:xfrm>
            <a:off x="0" y="3429300"/>
            <a:ext cx="9141475" cy="1714200"/>
            <a:chOff x="0" y="3429300"/>
            <a:chExt cx="9141475" cy="1714200"/>
          </a:xfrm>
        </p:grpSpPr>
        <p:sp>
          <p:nvSpPr>
            <p:cNvPr id="40" name="Google Shape;40;p6"/>
            <p:cNvSpPr/>
            <p:nvPr/>
          </p:nvSpPr>
          <p:spPr>
            <a:xfrm flipH="1" rot="10800000">
              <a:off x="0" y="4286400"/>
              <a:ext cx="710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 flipH="1" rot="10800000">
              <a:off x="0" y="34293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 flipH="1" rot="10800000">
              <a:off x="8430775" y="42864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8430775" y="4125900"/>
              <a:ext cx="710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4" name="Google Shape;44;p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713225" y="845825"/>
            <a:ext cx="4294800" cy="12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713225" y="2141075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48" name="Google Shape;48;p7"/>
          <p:cNvSpPr/>
          <p:nvPr>
            <p:ph idx="2" type="pic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9" name="Google Shape;49;p7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50" name="Google Shape;50;p7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6" name="Google Shape;56;p8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57" name="Google Shape;57;p8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58" name="Google Shape;58;p8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" name="Google Shape;59;p8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" name="Google Shape;60;p8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61" name="Google Shape;61;p8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2" name="Google Shape;62;p8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6" name="Google Shape;66;p9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67" name="Google Shape;67;p9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0" name="Google Shape;70;p9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2617600" y="2118550"/>
            <a:ext cx="3908700" cy="101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subTitle"/>
          </p:nvPr>
        </p:nvSpPr>
        <p:spPr>
          <a:xfrm>
            <a:off x="2817525" y="3212000"/>
            <a:ext cx="3509100" cy="417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hasCustomPrompt="1" idx="2" type="title"/>
          </p:nvPr>
        </p:nvSpPr>
        <p:spPr>
          <a:xfrm>
            <a:off x="720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3" type="title"/>
          </p:nvPr>
        </p:nvSpPr>
        <p:spPr>
          <a:xfrm>
            <a:off x="4572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4" type="title"/>
          </p:nvPr>
        </p:nvSpPr>
        <p:spPr>
          <a:xfrm>
            <a:off x="720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hasCustomPrompt="1" idx="5" type="title"/>
          </p:nvPr>
        </p:nvSpPr>
        <p:spPr>
          <a:xfrm>
            <a:off x="4572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6" type="title"/>
          </p:nvPr>
        </p:nvSpPr>
        <p:spPr>
          <a:xfrm>
            <a:off x="720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7" type="title"/>
          </p:nvPr>
        </p:nvSpPr>
        <p:spPr>
          <a:xfrm>
            <a:off x="4572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607100" y="1762373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8" type="subTitle"/>
          </p:nvPr>
        </p:nvSpPr>
        <p:spPr>
          <a:xfrm>
            <a:off x="1607100" y="2852736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9" type="subTitle"/>
          </p:nvPr>
        </p:nvSpPr>
        <p:spPr>
          <a:xfrm>
            <a:off x="1607100" y="3943098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3" type="subTitle"/>
          </p:nvPr>
        </p:nvSpPr>
        <p:spPr>
          <a:xfrm>
            <a:off x="5459100" y="1762373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4" type="subTitle"/>
          </p:nvPr>
        </p:nvSpPr>
        <p:spPr>
          <a:xfrm>
            <a:off x="5459100" y="2852736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5" type="subTitle"/>
          </p:nvPr>
        </p:nvSpPr>
        <p:spPr>
          <a:xfrm>
            <a:off x="5459100" y="3943098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92" name="Google Shape;92;p13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93" name="Google Shape;93;p13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94" name="Google Shape;94;p13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97" name="Google Shape;97;p13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8" name="Google Shape;98;p13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3718663" y="959100"/>
            <a:ext cx="2872500" cy="1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" type="subTitle"/>
          </p:nvPr>
        </p:nvSpPr>
        <p:spPr>
          <a:xfrm>
            <a:off x="3718675" y="2167200"/>
            <a:ext cx="4142400" cy="20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grpSp>
        <p:nvGrpSpPr>
          <p:cNvPr id="102" name="Google Shape;102;p14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103" name="Google Shape;103;p14"/>
            <p:cNvSpPr/>
            <p:nvPr/>
          </p:nvSpPr>
          <p:spPr>
            <a:xfrm flipH="1" rot="10800000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 flipH="1" rot="10800000">
              <a:off x="843077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 flipH="1" rot="10800000"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3997325" y="1045900"/>
            <a:ext cx="4433700" cy="142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1" type="subTitle"/>
          </p:nvPr>
        </p:nvSpPr>
        <p:spPr>
          <a:xfrm>
            <a:off x="3997325" y="2430553"/>
            <a:ext cx="4433700" cy="14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" name="Google Shape;112;p15"/>
          <p:cNvSpPr/>
          <p:nvPr>
            <p:ph idx="2" type="pic"/>
          </p:nvPr>
        </p:nvSpPr>
        <p:spPr>
          <a:xfrm>
            <a:off x="713225" y="554676"/>
            <a:ext cx="2801100" cy="4049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3" name="Google Shape;113;p15"/>
          <p:cNvGrpSpPr/>
          <p:nvPr/>
        </p:nvGrpSpPr>
        <p:grpSpPr>
          <a:xfrm>
            <a:off x="0" y="0"/>
            <a:ext cx="713100" cy="5143500"/>
            <a:chOff x="0" y="0"/>
            <a:chExt cx="713100" cy="5143500"/>
          </a:xfrm>
        </p:grpSpPr>
        <p:sp>
          <p:nvSpPr>
            <p:cNvPr id="114" name="Google Shape;114;p15"/>
            <p:cNvSpPr/>
            <p:nvPr/>
          </p:nvSpPr>
          <p:spPr>
            <a:xfrm flipH="1" rot="10800000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 flipH="1" rot="10800000">
              <a:off x="0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17" name="Google Shape;117;p15"/>
          <p:cNvSpPr/>
          <p:nvPr/>
        </p:nvSpPr>
        <p:spPr>
          <a:xfrm flipH="1" rot="10800000">
            <a:off x="8430775" y="0"/>
            <a:ext cx="7131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26177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713225" y="539504"/>
            <a:ext cx="419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713225" y="1237654"/>
            <a:ext cx="4195500" cy="30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2" name="Google Shape;122;p16"/>
          <p:cNvGrpSpPr/>
          <p:nvPr/>
        </p:nvGrpSpPr>
        <p:grpSpPr>
          <a:xfrm>
            <a:off x="0" y="4662000"/>
            <a:ext cx="9144000" cy="481500"/>
            <a:chOff x="0" y="4662000"/>
            <a:chExt cx="9144000" cy="4815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6" name="Google Shape;126;p1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9" name="Google Shape;129;p17"/>
          <p:cNvGrpSpPr/>
          <p:nvPr/>
        </p:nvGrpSpPr>
        <p:grpSpPr>
          <a:xfrm>
            <a:off x="0" y="0"/>
            <a:ext cx="9144000" cy="481500"/>
            <a:chOff x="0" y="4662000"/>
            <a:chExt cx="9144000" cy="481500"/>
          </a:xfrm>
        </p:grpSpPr>
        <p:sp>
          <p:nvSpPr>
            <p:cNvPr id="130" name="Google Shape;130;p17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3" name="Google Shape;133;p17"/>
          <p:cNvSpPr/>
          <p:nvPr/>
        </p:nvSpPr>
        <p:spPr>
          <a:xfrm>
            <a:off x="713225" y="476431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>
            <a:off x="713225" y="1558450"/>
            <a:ext cx="69519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713225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31361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5749496" y="2785400"/>
            <a:ext cx="23697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713225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31357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6" type="subTitle"/>
          </p:nvPr>
        </p:nvSpPr>
        <p:spPr>
          <a:xfrm>
            <a:off x="5749488" y="2202125"/>
            <a:ext cx="2369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43" name="Google Shape;143;p18"/>
          <p:cNvGrpSpPr/>
          <p:nvPr/>
        </p:nvGrpSpPr>
        <p:grpSpPr>
          <a:xfrm>
            <a:off x="8795925" y="2411700"/>
            <a:ext cx="364500" cy="2731800"/>
            <a:chOff x="8795925" y="2411700"/>
            <a:chExt cx="364500" cy="2731800"/>
          </a:xfrm>
        </p:grpSpPr>
        <p:sp>
          <p:nvSpPr>
            <p:cNvPr id="144" name="Google Shape;144;p18"/>
            <p:cNvSpPr/>
            <p:nvPr/>
          </p:nvSpPr>
          <p:spPr>
            <a:xfrm flipH="1" rot="10800000">
              <a:off x="8795925" y="4286400"/>
              <a:ext cx="3645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 flipH="1" rot="10800000">
              <a:off x="8795925" y="3429300"/>
              <a:ext cx="3645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 flipH="1" rot="10800000">
              <a:off x="8795925" y="2572200"/>
              <a:ext cx="3645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8795925" y="2411700"/>
              <a:ext cx="3645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8" name="Google Shape;148;p18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1" type="subTitle"/>
          </p:nvPr>
        </p:nvSpPr>
        <p:spPr>
          <a:xfrm>
            <a:off x="713225" y="1659425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2" type="subTitle"/>
          </p:nvPr>
        </p:nvSpPr>
        <p:spPr>
          <a:xfrm>
            <a:off x="4698825" y="1659425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3" type="subTitle"/>
          </p:nvPr>
        </p:nvSpPr>
        <p:spPr>
          <a:xfrm>
            <a:off x="713225" y="3396200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4" type="subTitle"/>
          </p:nvPr>
        </p:nvSpPr>
        <p:spPr>
          <a:xfrm>
            <a:off x="4698825" y="3396200"/>
            <a:ext cx="32862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5" type="subTitle"/>
          </p:nvPr>
        </p:nvSpPr>
        <p:spPr>
          <a:xfrm>
            <a:off x="713225" y="13384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6" type="subTitle"/>
          </p:nvPr>
        </p:nvSpPr>
        <p:spPr>
          <a:xfrm>
            <a:off x="713225" y="30752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7" type="subTitle"/>
          </p:nvPr>
        </p:nvSpPr>
        <p:spPr>
          <a:xfrm>
            <a:off x="4698825" y="13384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8" type="subTitle"/>
          </p:nvPr>
        </p:nvSpPr>
        <p:spPr>
          <a:xfrm>
            <a:off x="4698825" y="3075275"/>
            <a:ext cx="3286200" cy="40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59" name="Google Shape;159;p19"/>
          <p:cNvGrpSpPr/>
          <p:nvPr/>
        </p:nvGrpSpPr>
        <p:grpSpPr>
          <a:xfrm>
            <a:off x="0" y="3429300"/>
            <a:ext cx="9160425" cy="1714200"/>
            <a:chOff x="0" y="3429300"/>
            <a:chExt cx="9160425" cy="1714200"/>
          </a:xfrm>
        </p:grpSpPr>
        <p:grpSp>
          <p:nvGrpSpPr>
            <p:cNvPr id="160" name="Google Shape;160;p19"/>
            <p:cNvGrpSpPr/>
            <p:nvPr/>
          </p:nvGrpSpPr>
          <p:grpSpPr>
            <a:xfrm>
              <a:off x="8795925" y="3429300"/>
              <a:ext cx="364500" cy="1714200"/>
              <a:chOff x="8795925" y="3429300"/>
              <a:chExt cx="364500" cy="1714200"/>
            </a:xfrm>
          </p:grpSpPr>
          <p:sp>
            <p:nvSpPr>
              <p:cNvPr id="161" name="Google Shape;161;p19"/>
              <p:cNvSpPr/>
              <p:nvPr/>
            </p:nvSpPr>
            <p:spPr>
              <a:xfrm flipH="1" rot="10800000">
                <a:off x="8795925" y="4286400"/>
                <a:ext cx="364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2" name="Google Shape;162;p19"/>
              <p:cNvSpPr/>
              <p:nvPr/>
            </p:nvSpPr>
            <p:spPr>
              <a:xfrm flipH="1" rot="10800000">
                <a:off x="8795925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3" name="Google Shape;163;p19"/>
            <p:cNvGrpSpPr/>
            <p:nvPr/>
          </p:nvGrpSpPr>
          <p:grpSpPr>
            <a:xfrm>
              <a:off x="0" y="3429300"/>
              <a:ext cx="364500" cy="1714200"/>
              <a:chOff x="0" y="3429300"/>
              <a:chExt cx="364500" cy="1714200"/>
            </a:xfrm>
          </p:grpSpPr>
          <p:sp>
            <p:nvSpPr>
              <p:cNvPr id="164" name="Google Shape;164;p19"/>
              <p:cNvSpPr/>
              <p:nvPr/>
            </p:nvSpPr>
            <p:spPr>
              <a:xfrm flipH="1" rot="10800000">
                <a:off x="0" y="4286400"/>
                <a:ext cx="364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" name="Google Shape;165;p19"/>
              <p:cNvSpPr/>
              <p:nvPr/>
            </p:nvSpPr>
            <p:spPr>
              <a:xfrm flipH="1" rot="10800000">
                <a:off x="0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66" name="Google Shape;166;p19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" name="Google Shape;169;p20"/>
          <p:cNvSpPr txBox="1"/>
          <p:nvPr>
            <p:ph idx="1" type="subTitle"/>
          </p:nvPr>
        </p:nvSpPr>
        <p:spPr>
          <a:xfrm>
            <a:off x="71310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0" name="Google Shape;170;p20"/>
          <p:cNvSpPr txBox="1"/>
          <p:nvPr>
            <p:ph idx="2" type="subTitle"/>
          </p:nvPr>
        </p:nvSpPr>
        <p:spPr>
          <a:xfrm>
            <a:off x="345525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20"/>
          <p:cNvSpPr txBox="1"/>
          <p:nvPr>
            <p:ph idx="3" type="subTitle"/>
          </p:nvPr>
        </p:nvSpPr>
        <p:spPr>
          <a:xfrm>
            <a:off x="71310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20"/>
          <p:cNvSpPr txBox="1"/>
          <p:nvPr>
            <p:ph idx="4" type="subTitle"/>
          </p:nvPr>
        </p:nvSpPr>
        <p:spPr>
          <a:xfrm>
            <a:off x="345525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5" type="subTitle"/>
          </p:nvPr>
        </p:nvSpPr>
        <p:spPr>
          <a:xfrm>
            <a:off x="6197400" y="15577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6" type="subTitle"/>
          </p:nvPr>
        </p:nvSpPr>
        <p:spPr>
          <a:xfrm>
            <a:off x="6197400" y="328805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7" type="subTitle"/>
          </p:nvPr>
        </p:nvSpPr>
        <p:spPr>
          <a:xfrm>
            <a:off x="713100" y="1307112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6" name="Google Shape;176;p20"/>
          <p:cNvSpPr txBox="1"/>
          <p:nvPr>
            <p:ph idx="8" type="subTitle"/>
          </p:nvPr>
        </p:nvSpPr>
        <p:spPr>
          <a:xfrm>
            <a:off x="3457650" y="1307112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7" name="Google Shape;177;p20"/>
          <p:cNvSpPr txBox="1"/>
          <p:nvPr>
            <p:ph idx="9" type="subTitle"/>
          </p:nvPr>
        </p:nvSpPr>
        <p:spPr>
          <a:xfrm>
            <a:off x="6199800" y="1307112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8" name="Google Shape;178;p20"/>
          <p:cNvSpPr txBox="1"/>
          <p:nvPr>
            <p:ph idx="13" type="subTitle"/>
          </p:nvPr>
        </p:nvSpPr>
        <p:spPr>
          <a:xfrm>
            <a:off x="713100" y="3034188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9" name="Google Shape;179;p20"/>
          <p:cNvSpPr txBox="1"/>
          <p:nvPr>
            <p:ph idx="14" type="subTitle"/>
          </p:nvPr>
        </p:nvSpPr>
        <p:spPr>
          <a:xfrm>
            <a:off x="3457650" y="3034193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0" name="Google Shape;180;p20"/>
          <p:cNvSpPr txBox="1"/>
          <p:nvPr>
            <p:ph idx="15" type="subTitle"/>
          </p:nvPr>
        </p:nvSpPr>
        <p:spPr>
          <a:xfrm>
            <a:off x="6199800" y="3034193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81" name="Google Shape;181;p20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85" name="Google Shape;185;p20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hasCustomPrompt="1" type="title"/>
          </p:nvPr>
        </p:nvSpPr>
        <p:spPr>
          <a:xfrm>
            <a:off x="3287850" y="2064188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3287850" y="2746902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hasCustomPrompt="1" idx="2" type="title"/>
          </p:nvPr>
        </p:nvSpPr>
        <p:spPr>
          <a:xfrm>
            <a:off x="3287850" y="915175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21"/>
          <p:cNvSpPr txBox="1"/>
          <p:nvPr>
            <p:ph idx="3" type="subTitle"/>
          </p:nvPr>
        </p:nvSpPr>
        <p:spPr>
          <a:xfrm>
            <a:off x="3287850" y="1597879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hasCustomPrompt="1" idx="4" type="title"/>
          </p:nvPr>
        </p:nvSpPr>
        <p:spPr>
          <a:xfrm>
            <a:off x="3287850" y="3213200"/>
            <a:ext cx="25683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21"/>
          <p:cNvSpPr txBox="1"/>
          <p:nvPr>
            <p:ph idx="5" type="subTitle"/>
          </p:nvPr>
        </p:nvSpPr>
        <p:spPr>
          <a:xfrm>
            <a:off x="3287850" y="3895925"/>
            <a:ext cx="2568300" cy="332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193" name="Google Shape;193;p21"/>
          <p:cNvGrpSpPr/>
          <p:nvPr/>
        </p:nvGrpSpPr>
        <p:grpSpPr>
          <a:xfrm>
            <a:off x="3847050" y="378431"/>
            <a:ext cx="1449900" cy="4386056"/>
            <a:chOff x="3847050" y="378431"/>
            <a:chExt cx="1449900" cy="4386056"/>
          </a:xfrm>
        </p:grpSpPr>
        <p:sp>
          <p:nvSpPr>
            <p:cNvPr id="194" name="Google Shape;194;p21"/>
            <p:cNvSpPr/>
            <p:nvPr/>
          </p:nvSpPr>
          <p:spPr>
            <a:xfrm>
              <a:off x="3847050" y="378431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3847050" y="4603988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98" name="Google Shape;198;p22"/>
          <p:cNvGrpSpPr/>
          <p:nvPr/>
        </p:nvGrpSpPr>
        <p:grpSpPr>
          <a:xfrm>
            <a:off x="0" y="275063"/>
            <a:ext cx="9144000" cy="4868438"/>
            <a:chOff x="0" y="275063"/>
            <a:chExt cx="9144000" cy="4868438"/>
          </a:xfrm>
        </p:grpSpPr>
        <p:sp>
          <p:nvSpPr>
            <p:cNvPr id="199" name="Google Shape;199;p22"/>
            <p:cNvSpPr/>
            <p:nvPr/>
          </p:nvSpPr>
          <p:spPr>
            <a:xfrm>
              <a:off x="713225" y="275063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00" name="Google Shape;200;p22"/>
            <p:cNvGrpSpPr/>
            <p:nvPr/>
          </p:nvGrpSpPr>
          <p:grpSpPr>
            <a:xfrm>
              <a:off x="0" y="4822500"/>
              <a:ext cx="9144000" cy="321000"/>
              <a:chOff x="0" y="4822500"/>
              <a:chExt cx="9144000" cy="321000"/>
            </a:xfrm>
          </p:grpSpPr>
          <p:sp>
            <p:nvSpPr>
              <p:cNvPr id="201" name="Google Shape;201;p22"/>
              <p:cNvSpPr/>
              <p:nvPr/>
            </p:nvSpPr>
            <p:spPr>
              <a:xfrm>
                <a:off x="0" y="4983000"/>
                <a:ext cx="91440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2" name="Google Shape;202;p22"/>
              <p:cNvSpPr/>
              <p:nvPr/>
            </p:nvSpPr>
            <p:spPr>
              <a:xfrm>
                <a:off x="0" y="4822500"/>
                <a:ext cx="91440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03" name="Google Shape;203;p22"/>
          <p:cNvGrpSpPr/>
          <p:nvPr/>
        </p:nvGrpSpPr>
        <p:grpSpPr>
          <a:xfrm>
            <a:off x="8430775" y="0"/>
            <a:ext cx="713318" cy="857100"/>
            <a:chOff x="8430775" y="0"/>
            <a:chExt cx="713318" cy="857100"/>
          </a:xfrm>
        </p:grpSpPr>
        <p:sp>
          <p:nvSpPr>
            <p:cNvPr id="204" name="Google Shape;204;p22"/>
            <p:cNvSpPr/>
            <p:nvPr/>
          </p:nvSpPr>
          <p:spPr>
            <a:xfrm flipH="1" rot="10800000">
              <a:off x="8787393" y="0"/>
              <a:ext cx="356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 flipH="1" rot="10800000">
              <a:off x="8430775" y="0"/>
              <a:ext cx="356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08" name="Google Shape;208;p23"/>
          <p:cNvGrpSpPr/>
          <p:nvPr/>
        </p:nvGrpSpPr>
        <p:grpSpPr>
          <a:xfrm>
            <a:off x="-100" y="3429300"/>
            <a:ext cx="1433325" cy="1714200"/>
            <a:chOff x="-100" y="3429300"/>
            <a:chExt cx="1433325" cy="1714200"/>
          </a:xfrm>
        </p:grpSpPr>
        <p:sp>
          <p:nvSpPr>
            <p:cNvPr id="209" name="Google Shape;209;p23"/>
            <p:cNvSpPr/>
            <p:nvPr/>
          </p:nvSpPr>
          <p:spPr>
            <a:xfrm>
              <a:off x="72012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-10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-100" y="34293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12" name="Google Shape;212;p23"/>
          <p:cNvSpPr/>
          <p:nvPr/>
        </p:nvSpPr>
        <p:spPr>
          <a:xfrm>
            <a:off x="713000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5" name="Google Shape;215;p24"/>
          <p:cNvGrpSpPr/>
          <p:nvPr/>
        </p:nvGrpSpPr>
        <p:grpSpPr>
          <a:xfrm>
            <a:off x="0" y="0"/>
            <a:ext cx="9144000" cy="5160150"/>
            <a:chOff x="0" y="0"/>
            <a:chExt cx="9144000" cy="5160150"/>
          </a:xfrm>
        </p:grpSpPr>
        <p:grpSp>
          <p:nvGrpSpPr>
            <p:cNvPr id="216" name="Google Shape;216;p24"/>
            <p:cNvGrpSpPr/>
            <p:nvPr/>
          </p:nvGrpSpPr>
          <p:grpSpPr>
            <a:xfrm>
              <a:off x="0" y="3445950"/>
              <a:ext cx="568500" cy="1714200"/>
              <a:chOff x="0" y="3445950"/>
              <a:chExt cx="568500" cy="1714200"/>
            </a:xfrm>
          </p:grpSpPr>
          <p:sp>
            <p:nvSpPr>
              <p:cNvPr id="217" name="Google Shape;217;p24"/>
              <p:cNvSpPr/>
              <p:nvPr/>
            </p:nvSpPr>
            <p:spPr>
              <a:xfrm flipH="1" rot="10800000">
                <a:off x="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8" name="Google Shape;218;p24"/>
              <p:cNvSpPr/>
              <p:nvPr/>
            </p:nvSpPr>
            <p:spPr>
              <a:xfrm flipH="1" rot="10800000">
                <a:off x="0" y="344595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19" name="Google Shape;219;p24"/>
            <p:cNvGrpSpPr/>
            <p:nvPr/>
          </p:nvGrpSpPr>
          <p:grpSpPr>
            <a:xfrm>
              <a:off x="8575500" y="0"/>
              <a:ext cx="568500" cy="5160150"/>
              <a:chOff x="8575500" y="0"/>
              <a:chExt cx="568500" cy="5160150"/>
            </a:xfrm>
          </p:grpSpPr>
          <p:sp>
            <p:nvSpPr>
              <p:cNvPr id="220" name="Google Shape;220;p24"/>
              <p:cNvSpPr/>
              <p:nvPr/>
            </p:nvSpPr>
            <p:spPr>
              <a:xfrm flipH="1" rot="10800000">
                <a:off x="857550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1" name="Google Shape;221;p24"/>
              <p:cNvSpPr/>
              <p:nvPr/>
            </p:nvSpPr>
            <p:spPr>
              <a:xfrm flipH="1" rot="10800000">
                <a:off x="8575500" y="3445950"/>
                <a:ext cx="568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2" name="Google Shape;222;p24"/>
              <p:cNvSpPr/>
              <p:nvPr/>
            </p:nvSpPr>
            <p:spPr>
              <a:xfrm flipH="1" rot="10800000">
                <a:off x="8575500" y="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23" name="Google Shape;223;p24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26" name="Google Shape;226;p25"/>
          <p:cNvGrpSpPr/>
          <p:nvPr/>
        </p:nvGrpSpPr>
        <p:grpSpPr>
          <a:xfrm>
            <a:off x="0" y="0"/>
            <a:ext cx="9145075" cy="5143500"/>
            <a:chOff x="0" y="0"/>
            <a:chExt cx="9145075" cy="5143500"/>
          </a:xfrm>
        </p:grpSpPr>
        <p:sp>
          <p:nvSpPr>
            <p:cNvPr id="227" name="Google Shape;227;p25"/>
            <p:cNvSpPr/>
            <p:nvPr/>
          </p:nvSpPr>
          <p:spPr>
            <a:xfrm flipH="1" rot="10800000">
              <a:off x="0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8" name="Google Shape;228;p25"/>
            <p:cNvSpPr/>
            <p:nvPr/>
          </p:nvSpPr>
          <p:spPr>
            <a:xfrm flipH="1" rot="10800000">
              <a:off x="0" y="3429300"/>
              <a:ext cx="7143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25"/>
            <p:cNvSpPr/>
            <p:nvPr/>
          </p:nvSpPr>
          <p:spPr>
            <a:xfrm flipH="1" rot="10800000">
              <a:off x="0" y="257220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0" name="Google Shape;230;p25"/>
            <p:cNvSpPr/>
            <p:nvPr/>
          </p:nvSpPr>
          <p:spPr>
            <a:xfrm flipH="1" rot="10800000">
              <a:off x="8430775" y="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" name="Google Shape;231;p25"/>
            <p:cNvSpPr/>
            <p:nvPr/>
          </p:nvSpPr>
          <p:spPr>
            <a:xfrm flipH="1" rot="10800000">
              <a:off x="8430775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2" name="Google Shape;232;p2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5" name="Google Shape;235;p26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236" name="Google Shape;236;p26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 flipH="1" rot="10800000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41" name="Google Shape;241;p2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44" name="Google Shape;244;p27"/>
          <p:cNvGrpSpPr/>
          <p:nvPr/>
        </p:nvGrpSpPr>
        <p:grpSpPr>
          <a:xfrm>
            <a:off x="0" y="3275875"/>
            <a:ext cx="9144000" cy="1863925"/>
            <a:chOff x="0" y="3275875"/>
            <a:chExt cx="9144000" cy="1863925"/>
          </a:xfrm>
        </p:grpSpPr>
        <p:sp>
          <p:nvSpPr>
            <p:cNvPr id="245" name="Google Shape;245;p27"/>
            <p:cNvSpPr/>
            <p:nvPr/>
          </p:nvSpPr>
          <p:spPr>
            <a:xfrm flipH="1" rot="10800000">
              <a:off x="0" y="4282700"/>
              <a:ext cx="708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46" name="Google Shape;246;p27"/>
            <p:cNvGrpSpPr/>
            <p:nvPr/>
          </p:nvGrpSpPr>
          <p:grpSpPr>
            <a:xfrm>
              <a:off x="8435700" y="3275875"/>
              <a:ext cx="708300" cy="1863925"/>
              <a:chOff x="8435700" y="3275875"/>
              <a:chExt cx="708300" cy="1863925"/>
            </a:xfrm>
          </p:grpSpPr>
          <p:sp>
            <p:nvSpPr>
              <p:cNvPr id="247" name="Google Shape;247;p27"/>
              <p:cNvSpPr/>
              <p:nvPr/>
            </p:nvSpPr>
            <p:spPr>
              <a:xfrm>
                <a:off x="8435700" y="3275875"/>
                <a:ext cx="7083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8" name="Google Shape;248;p27"/>
              <p:cNvSpPr/>
              <p:nvPr/>
            </p:nvSpPr>
            <p:spPr>
              <a:xfrm flipH="1" rot="10800000">
                <a:off x="8435700" y="4282700"/>
                <a:ext cx="7083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9" name="Google Shape;249;p27"/>
              <p:cNvSpPr/>
              <p:nvPr/>
            </p:nvSpPr>
            <p:spPr>
              <a:xfrm flipH="1" rot="10800000">
                <a:off x="8435700" y="3436375"/>
                <a:ext cx="7083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50" name="Google Shape;250;p27"/>
            <p:cNvSpPr/>
            <p:nvPr/>
          </p:nvSpPr>
          <p:spPr>
            <a:xfrm>
              <a:off x="0" y="4132975"/>
              <a:ext cx="7083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51" name="Google Shape;251;p27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4" name="Google Shape;254;p28"/>
          <p:cNvSpPr txBox="1"/>
          <p:nvPr>
            <p:ph idx="1" type="subTitle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255" name="Google Shape;255;p28"/>
          <p:cNvSpPr/>
          <p:nvPr>
            <p:ph idx="2" type="pic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6" name="Google Shape;256;p28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257" name="Google Shape;257;p28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0" name="Google Shape;260;p28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/>
          <p:nvPr>
            <p:ph type="title"/>
          </p:nvPr>
        </p:nvSpPr>
        <p:spPr>
          <a:xfrm>
            <a:off x="4253750" y="769400"/>
            <a:ext cx="3955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3" name="Google Shape;263;p29"/>
          <p:cNvSpPr txBox="1"/>
          <p:nvPr>
            <p:ph idx="1" type="subTitle"/>
          </p:nvPr>
        </p:nvSpPr>
        <p:spPr>
          <a:xfrm>
            <a:off x="4253750" y="1859617"/>
            <a:ext cx="3684000" cy="12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4" name="Google Shape;264;p29"/>
          <p:cNvSpPr txBox="1"/>
          <p:nvPr/>
        </p:nvSpPr>
        <p:spPr>
          <a:xfrm>
            <a:off x="4253760" y="3320333"/>
            <a:ext cx="36840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 sz="1200" u="sng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267" name="Google Shape;267;p30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flipH="1" rot="10800000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flipH="1" rot="10800000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flipH="1" rot="10800000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31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276" name="Google Shape;276;p31"/>
            <p:cNvSpPr/>
            <p:nvPr/>
          </p:nvSpPr>
          <p:spPr>
            <a:xfrm flipH="1" rot="10800000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 flipH="1" rot="10800000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 flipH="1" rot="10800000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 flipH="1" rot="10800000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81" name="Google Shape;281;p31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32"/>
          <p:cNvGrpSpPr/>
          <p:nvPr/>
        </p:nvGrpSpPr>
        <p:grpSpPr>
          <a:xfrm>
            <a:off x="8537638" y="2150"/>
            <a:ext cx="606757" cy="5139225"/>
            <a:chOff x="7468800" y="0"/>
            <a:chExt cx="1675200" cy="5139225"/>
          </a:xfrm>
        </p:grpSpPr>
        <p:grpSp>
          <p:nvGrpSpPr>
            <p:cNvPr id="287" name="Google Shape;287;p32"/>
            <p:cNvGrpSpPr/>
            <p:nvPr/>
          </p:nvGrpSpPr>
          <p:grpSpPr>
            <a:xfrm>
              <a:off x="7468800" y="0"/>
              <a:ext cx="1675200" cy="5139225"/>
              <a:chOff x="7468800" y="0"/>
              <a:chExt cx="1675200" cy="5139225"/>
            </a:xfrm>
          </p:grpSpPr>
          <p:sp>
            <p:nvSpPr>
              <p:cNvPr id="288" name="Google Shape;288;p32"/>
              <p:cNvSpPr/>
              <p:nvPr/>
            </p:nvSpPr>
            <p:spPr>
              <a:xfrm>
                <a:off x="7468800" y="3464996"/>
                <a:ext cx="1675200" cy="816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9" name="Google Shape;289;p32"/>
              <p:cNvSpPr/>
              <p:nvPr/>
            </p:nvSpPr>
            <p:spPr>
              <a:xfrm>
                <a:off x="7468800" y="4282125"/>
                <a:ext cx="16752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0" name="Google Shape;290;p32"/>
              <p:cNvSpPr/>
              <p:nvPr/>
            </p:nvSpPr>
            <p:spPr>
              <a:xfrm>
                <a:off x="7468800" y="2647875"/>
                <a:ext cx="1675200" cy="816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1" name="Google Shape;291;p32"/>
              <p:cNvSpPr/>
              <p:nvPr/>
            </p:nvSpPr>
            <p:spPr>
              <a:xfrm flipH="1" rot="10800000">
                <a:off x="7468800" y="857329"/>
                <a:ext cx="1675200" cy="816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2" name="Google Shape;292;p32"/>
              <p:cNvSpPr/>
              <p:nvPr/>
            </p:nvSpPr>
            <p:spPr>
              <a:xfrm flipH="1" rot="10800000">
                <a:off x="7468800" y="0"/>
                <a:ext cx="16752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3" name="Google Shape;293;p32"/>
              <p:cNvSpPr/>
              <p:nvPr/>
            </p:nvSpPr>
            <p:spPr>
              <a:xfrm flipH="1" rot="10800000">
                <a:off x="7468800" y="1674450"/>
                <a:ext cx="1675200" cy="816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94" name="Google Shape;294;p32"/>
            <p:cNvSpPr/>
            <p:nvPr/>
          </p:nvSpPr>
          <p:spPr>
            <a:xfrm>
              <a:off x="7468800" y="2491500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95" name="Google Shape;295;p32"/>
          <p:cNvSpPr txBox="1"/>
          <p:nvPr>
            <p:ph type="ctrTitle"/>
          </p:nvPr>
        </p:nvSpPr>
        <p:spPr>
          <a:xfrm>
            <a:off x="713225" y="1120150"/>
            <a:ext cx="6943200" cy="15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St. James Health System Proposal</a:t>
            </a:r>
            <a:endParaRPr/>
          </a:p>
        </p:txBody>
      </p:sp>
      <p:sp>
        <p:nvSpPr>
          <p:cNvPr id="296" name="Google Shape;296;p32"/>
          <p:cNvSpPr txBox="1"/>
          <p:nvPr>
            <p:ph idx="1" type="subTitle"/>
          </p:nvPr>
        </p:nvSpPr>
        <p:spPr>
          <a:xfrm>
            <a:off x="833325" y="3710825"/>
            <a:ext cx="60654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aleway SemiBold"/>
                <a:ea typeface="Raleway SemiBold"/>
                <a:cs typeface="Raleway SemiBold"/>
                <a:sym typeface="Raleway SemiBold"/>
              </a:rPr>
              <a:t>Asha Awil, Aimee Ramos, Shreyash       </a:t>
            </a:r>
            <a:endParaRPr sz="1600"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97" name="Google Shape;297;p32"/>
          <p:cNvSpPr/>
          <p:nvPr/>
        </p:nvSpPr>
        <p:spPr>
          <a:xfrm>
            <a:off x="833327" y="773016"/>
            <a:ext cx="1449900" cy="5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able of contents</a:t>
            </a:r>
            <a:endParaRPr/>
          </a:p>
        </p:txBody>
      </p:sp>
      <p:sp>
        <p:nvSpPr>
          <p:cNvPr id="303" name="Google Shape;303;p33"/>
          <p:cNvSpPr txBox="1"/>
          <p:nvPr>
            <p:ph idx="2" type="title"/>
          </p:nvPr>
        </p:nvSpPr>
        <p:spPr>
          <a:xfrm>
            <a:off x="720000" y="1615673"/>
            <a:ext cx="7347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4" name="Google Shape;304;p33"/>
          <p:cNvSpPr txBox="1"/>
          <p:nvPr>
            <p:ph idx="3" type="title"/>
          </p:nvPr>
        </p:nvSpPr>
        <p:spPr>
          <a:xfrm>
            <a:off x="4572000" y="1615673"/>
            <a:ext cx="7347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05" name="Google Shape;305;p33"/>
          <p:cNvSpPr txBox="1"/>
          <p:nvPr>
            <p:ph idx="4" type="title"/>
          </p:nvPr>
        </p:nvSpPr>
        <p:spPr>
          <a:xfrm>
            <a:off x="720000" y="2706036"/>
            <a:ext cx="7347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6" name="Google Shape;306;p33"/>
          <p:cNvSpPr txBox="1"/>
          <p:nvPr>
            <p:ph idx="5" type="title"/>
          </p:nvPr>
        </p:nvSpPr>
        <p:spPr>
          <a:xfrm>
            <a:off x="4572000" y="2706036"/>
            <a:ext cx="7347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07" name="Google Shape;307;p33"/>
          <p:cNvSpPr txBox="1"/>
          <p:nvPr>
            <p:ph idx="6" type="title"/>
          </p:nvPr>
        </p:nvSpPr>
        <p:spPr>
          <a:xfrm>
            <a:off x="720000" y="3796398"/>
            <a:ext cx="7347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8" name="Google Shape;308;p33"/>
          <p:cNvSpPr txBox="1"/>
          <p:nvPr>
            <p:ph idx="7" type="title"/>
          </p:nvPr>
        </p:nvSpPr>
        <p:spPr>
          <a:xfrm>
            <a:off x="4572000" y="3796398"/>
            <a:ext cx="7347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09" name="Google Shape;309;p33"/>
          <p:cNvSpPr txBox="1"/>
          <p:nvPr>
            <p:ph idx="1" type="subTitle"/>
          </p:nvPr>
        </p:nvSpPr>
        <p:spPr>
          <a:xfrm>
            <a:off x="1454700" y="1763461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Situational Analysis</a:t>
            </a:r>
            <a:endParaRPr/>
          </a:p>
        </p:txBody>
      </p:sp>
      <p:sp>
        <p:nvSpPr>
          <p:cNvPr id="310" name="Google Shape;310;p33"/>
          <p:cNvSpPr txBox="1"/>
          <p:nvPr>
            <p:ph idx="8" type="subTitle"/>
          </p:nvPr>
        </p:nvSpPr>
        <p:spPr>
          <a:xfrm>
            <a:off x="1454700" y="2852736"/>
            <a:ext cx="25320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HRO Transformation</a:t>
            </a:r>
            <a:endParaRPr/>
          </a:p>
        </p:txBody>
      </p:sp>
      <p:sp>
        <p:nvSpPr>
          <p:cNvPr id="311" name="Google Shape;311;p33"/>
          <p:cNvSpPr txBox="1"/>
          <p:nvPr>
            <p:ph idx="9" type="subTitle"/>
          </p:nvPr>
        </p:nvSpPr>
        <p:spPr>
          <a:xfrm>
            <a:off x="1454700" y="3943075"/>
            <a:ext cx="32295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Culture Framework</a:t>
            </a:r>
            <a:endParaRPr/>
          </a:p>
        </p:txBody>
      </p:sp>
      <p:sp>
        <p:nvSpPr>
          <p:cNvPr id="312" name="Google Shape;312;p33"/>
          <p:cNvSpPr txBox="1"/>
          <p:nvPr>
            <p:ph idx="13" type="subTitle"/>
          </p:nvPr>
        </p:nvSpPr>
        <p:spPr>
          <a:xfrm>
            <a:off x="5366650" y="1763738"/>
            <a:ext cx="32295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 &amp; Analysis</a:t>
            </a:r>
            <a:endParaRPr/>
          </a:p>
        </p:txBody>
      </p:sp>
      <p:sp>
        <p:nvSpPr>
          <p:cNvPr id="313" name="Google Shape;313;p33"/>
          <p:cNvSpPr txBox="1"/>
          <p:nvPr>
            <p:ph idx="14" type="subTitle"/>
          </p:nvPr>
        </p:nvSpPr>
        <p:spPr>
          <a:xfrm>
            <a:off x="5366650" y="2853300"/>
            <a:ext cx="30573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Management </a:t>
            </a:r>
            <a:endParaRPr/>
          </a:p>
        </p:txBody>
      </p:sp>
      <p:sp>
        <p:nvSpPr>
          <p:cNvPr id="314" name="Google Shape;314;p33"/>
          <p:cNvSpPr txBox="1"/>
          <p:nvPr>
            <p:ph idx="15" type="subTitle"/>
          </p:nvPr>
        </p:nvSpPr>
        <p:spPr>
          <a:xfrm>
            <a:off x="5366650" y="3942850"/>
            <a:ext cx="30573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 and Funding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4"/>
          <p:cNvSpPr txBox="1"/>
          <p:nvPr>
            <p:ph type="title"/>
          </p:nvPr>
        </p:nvSpPr>
        <p:spPr>
          <a:xfrm>
            <a:off x="5296150" y="2323763"/>
            <a:ext cx="45519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Situational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4"/>
          <p:cNvSpPr txBox="1"/>
          <p:nvPr>
            <p:ph idx="4294967295" type="title"/>
          </p:nvPr>
        </p:nvSpPr>
        <p:spPr>
          <a:xfrm>
            <a:off x="5437650" y="810300"/>
            <a:ext cx="7170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21" name="Google Shape;32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75" y="1080375"/>
            <a:ext cx="4305352" cy="348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 txBox="1"/>
          <p:nvPr>
            <p:ph idx="4294967295" type="title"/>
          </p:nvPr>
        </p:nvSpPr>
        <p:spPr>
          <a:xfrm>
            <a:off x="1387900" y="1186050"/>
            <a:ext cx="7184700" cy="26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aleway Medium"/>
              <a:buChar char="●"/>
            </a:pPr>
            <a:r>
              <a:rPr lang="en" sz="18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St. James runs several hospitals and clinics with heavy patient volume.</a:t>
            </a:r>
            <a:endParaRPr sz="18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aleway Medium"/>
              <a:buChar char="●"/>
            </a:pPr>
            <a:r>
              <a:rPr lang="en" sz="18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Recent issues include medication errors, falls, and surgical complications.</a:t>
            </a:r>
            <a:endParaRPr sz="18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Staff highlight poor communication and unclear accountability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5"/>
          <p:cNvSpPr txBox="1"/>
          <p:nvPr>
            <p:ph idx="4294967295" type="title"/>
          </p:nvPr>
        </p:nvSpPr>
        <p:spPr>
          <a:xfrm>
            <a:off x="1206425" y="587150"/>
            <a:ext cx="6923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aleway"/>
                <a:ea typeface="Raleway"/>
                <a:cs typeface="Raleway"/>
                <a:sym typeface="Raleway"/>
              </a:rPr>
              <a:t>Overview of Current State</a:t>
            </a:r>
            <a:endParaRPr b="1" sz="30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/>
          <p:nvPr>
            <p:ph idx="4294967295" type="title"/>
          </p:nvPr>
        </p:nvSpPr>
        <p:spPr>
          <a:xfrm>
            <a:off x="1227625" y="562975"/>
            <a:ext cx="705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Key Problems Identified</a:t>
            </a:r>
            <a:endParaRPr sz="4100"/>
          </a:p>
        </p:txBody>
      </p:sp>
      <p:sp>
        <p:nvSpPr>
          <p:cNvPr id="333" name="Google Shape;333;p36"/>
          <p:cNvSpPr txBox="1"/>
          <p:nvPr/>
        </p:nvSpPr>
        <p:spPr>
          <a:xfrm>
            <a:off x="1509450" y="1373950"/>
            <a:ext cx="54894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No consistent procedures across units.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Fear of reporting mistakes or near-misses.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Limited leadership visibility in safety efforts.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Outdated or inefficient reporting systems.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/>
        </p:nvSpPr>
        <p:spPr>
          <a:xfrm>
            <a:off x="1174325" y="1350450"/>
            <a:ext cx="7304100" cy="3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Patient harm and loss of trust.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Regulatory pressure from CMS and Joint Commission.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Reputational damage that affects community confidence and staff morale.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Financial harm due to penalties, lawsuits, regulatory fines, and operational inefficiencies.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Financial impact from penalties, lawsuits, and inefficiencies.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39" name="Google Shape;339;p37"/>
          <p:cNvSpPr txBox="1"/>
          <p:nvPr>
            <p:ph idx="4294967295" type="title"/>
          </p:nvPr>
        </p:nvSpPr>
        <p:spPr>
          <a:xfrm>
            <a:off x="1110450" y="575400"/>
            <a:ext cx="6923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Why This Matters</a:t>
            </a:r>
            <a:endParaRPr b="1" sz="30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"/>
          <p:cNvSpPr txBox="1"/>
          <p:nvPr>
            <p:ph idx="4294967295" type="title"/>
          </p:nvPr>
        </p:nvSpPr>
        <p:spPr>
          <a:xfrm>
            <a:off x="720000" y="657600"/>
            <a:ext cx="75471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 Achieving Zero Defects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5" name="Google Shape;345;p38"/>
          <p:cNvSpPr txBox="1"/>
          <p:nvPr/>
        </p:nvSpPr>
        <p:spPr>
          <a:xfrm>
            <a:off x="1148000" y="1342307"/>
            <a:ext cx="7035900" cy="29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Implementation and operationalization of High Reliability Principles.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Implementation of a change management plan.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Des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ign of reliable and error-resistant systems.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Establishment and implementation of a Just Culture.</a:t>
            </a:r>
            <a:br>
              <a:rPr lang="en" sz="1700"/>
            </a:b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 txBox="1"/>
          <p:nvPr>
            <p:ph type="title"/>
          </p:nvPr>
        </p:nvSpPr>
        <p:spPr>
          <a:xfrm>
            <a:off x="4955600" y="2547600"/>
            <a:ext cx="40398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HRO Transformation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9"/>
          <p:cNvSpPr txBox="1"/>
          <p:nvPr>
            <p:ph idx="4294967295" type="title"/>
          </p:nvPr>
        </p:nvSpPr>
        <p:spPr>
          <a:xfrm>
            <a:off x="5045000" y="1019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52" name="Google Shape;352;p39" title="What-Is-HR-Transformation-and-What-Does-It-Achiev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325" y="962950"/>
            <a:ext cx="3892426" cy="354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0"/>
          <p:cNvSpPr txBox="1"/>
          <p:nvPr>
            <p:ph idx="4294967295" type="title"/>
          </p:nvPr>
        </p:nvSpPr>
        <p:spPr>
          <a:xfrm>
            <a:off x="720000" y="539500"/>
            <a:ext cx="754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What is an HRO 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id="358" name="Google Shape;358;p40"/>
          <p:cNvSpPr txBox="1"/>
          <p:nvPr/>
        </p:nvSpPr>
        <p:spPr>
          <a:xfrm>
            <a:off x="962950" y="1350450"/>
            <a:ext cx="73041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Organizations that operate in high-risk environments but maintain exceptionally low error rates.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Focused on reliability, resilience, and consistent performance despite complexity.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1"/>
          <p:cNvSpPr txBox="1"/>
          <p:nvPr>
            <p:ph idx="4294967295" type="title"/>
          </p:nvPr>
        </p:nvSpPr>
        <p:spPr>
          <a:xfrm>
            <a:off x="602700" y="539500"/>
            <a:ext cx="793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Why St. James Needs HRO Transformation</a:t>
            </a:r>
            <a:endParaRPr b="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4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id="364" name="Google Shape;364;p41"/>
          <p:cNvSpPr txBox="1"/>
          <p:nvPr/>
        </p:nvSpPr>
        <p:spPr>
          <a:xfrm>
            <a:off x="962950" y="1350450"/>
            <a:ext cx="73041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High number of preventable incidents shows the need for a structured safety overhaul.</a:t>
            </a:r>
            <a:b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</a:b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Helps build a culture where staff report errors early and leadership responds quickly.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"/>
          <p:cNvSpPr txBox="1"/>
          <p:nvPr>
            <p:ph idx="4294967295" type="title"/>
          </p:nvPr>
        </p:nvSpPr>
        <p:spPr>
          <a:xfrm>
            <a:off x="720000" y="539500"/>
            <a:ext cx="754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Key HRO Principles We Will Implement</a:t>
            </a:r>
            <a:endParaRPr sz="5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id="370" name="Google Shape;370;p42"/>
          <p:cNvSpPr txBox="1"/>
          <p:nvPr/>
        </p:nvSpPr>
        <p:spPr>
          <a:xfrm>
            <a:off x="720000" y="1350450"/>
            <a:ext cx="78174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>
                <a:latin typeface="Raleway"/>
                <a:ea typeface="Raleway"/>
                <a:cs typeface="Raleway"/>
                <a:sym typeface="Raleway"/>
              </a:rPr>
              <a:t>Preoccupation with failure</a:t>
            </a: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: Assume risks exist even when things seem normal.</a:t>
            </a:r>
            <a:b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</a:b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>
                <a:latin typeface="Raleway"/>
                <a:ea typeface="Raleway"/>
                <a:cs typeface="Raleway"/>
                <a:sym typeface="Raleway"/>
              </a:rPr>
              <a:t>Reluctance to simplify</a:t>
            </a: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: Investigate root causes instead of assigning blame.</a:t>
            </a:r>
            <a:b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</a:b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>
                <a:latin typeface="Raleway"/>
                <a:ea typeface="Raleway"/>
                <a:cs typeface="Raleway"/>
                <a:sym typeface="Raleway"/>
              </a:rPr>
              <a:t>Sensitivity to operations</a:t>
            </a: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: Leadership stays connected with frontline staff.</a:t>
            </a:r>
            <a:b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</a:b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>
                <a:latin typeface="Raleway"/>
                <a:ea typeface="Raleway"/>
                <a:cs typeface="Raleway"/>
                <a:sym typeface="Raleway"/>
              </a:rPr>
              <a:t>Commitment to resilience</a:t>
            </a: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: Ability to recover quickly from unexpected events.</a:t>
            </a:r>
            <a:b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</a:b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600">
                <a:latin typeface="Raleway"/>
                <a:ea typeface="Raleway"/>
                <a:cs typeface="Raleway"/>
                <a:sym typeface="Raleway"/>
              </a:rPr>
              <a:t>Deference to expertise</a:t>
            </a: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: Allow trained staff to make safety decisions regardless of seniority.</a:t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3"/>
          <p:cNvSpPr txBox="1"/>
          <p:nvPr>
            <p:ph idx="4294967295" type="title"/>
          </p:nvPr>
        </p:nvSpPr>
        <p:spPr>
          <a:xfrm>
            <a:off x="719925" y="610650"/>
            <a:ext cx="75471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 </a:t>
            </a:r>
            <a:r>
              <a:rPr b="1" lang="en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Expected Benefits</a:t>
            </a:r>
            <a:endParaRPr b="1" sz="5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id="376" name="Google Shape;376;p43"/>
          <p:cNvSpPr txBox="1"/>
          <p:nvPr/>
        </p:nvSpPr>
        <p:spPr>
          <a:xfrm>
            <a:off x="1388925" y="1449000"/>
            <a:ext cx="68781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Reduction in preventable harm.</a:t>
            </a:r>
            <a:b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</a:b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More transparent and supportive culture.</a:t>
            </a:r>
            <a:b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</a:b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System-wide consistency in safety practices.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4"/>
          <p:cNvSpPr txBox="1"/>
          <p:nvPr>
            <p:ph type="title"/>
          </p:nvPr>
        </p:nvSpPr>
        <p:spPr>
          <a:xfrm>
            <a:off x="4532850" y="1599550"/>
            <a:ext cx="4381500" cy="15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Culture Framework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2" name="Google Shape;382;p44" title="retired-sick-patient-sitting-medical-cabinet-checkup-visit-using-health-care-appointment-find-diagnosis-old-person-waiting-receive-prescription-medicine-from-medical-team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5788" r="24648" t="0"/>
          <a:stretch/>
        </p:blipFill>
        <p:spPr>
          <a:xfrm>
            <a:off x="775050" y="539500"/>
            <a:ext cx="3618248" cy="4064400"/>
          </a:xfrm>
          <a:prstGeom prst="rect">
            <a:avLst/>
          </a:prstGeom>
        </p:spPr>
      </p:pic>
      <p:sp>
        <p:nvSpPr>
          <p:cNvPr id="383" name="Google Shape;383;p44"/>
          <p:cNvSpPr txBox="1"/>
          <p:nvPr>
            <p:ph idx="4294967295" type="title"/>
          </p:nvPr>
        </p:nvSpPr>
        <p:spPr>
          <a:xfrm>
            <a:off x="4532850" y="5394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5"/>
          <p:cNvSpPr txBox="1"/>
          <p:nvPr>
            <p:ph type="title"/>
          </p:nvPr>
        </p:nvSpPr>
        <p:spPr>
          <a:xfrm>
            <a:off x="446250" y="539500"/>
            <a:ext cx="797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Just Culture: Why St. James Needs It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9" name="Google Shape;389;p45"/>
          <p:cNvSpPr txBox="1"/>
          <p:nvPr/>
        </p:nvSpPr>
        <p:spPr>
          <a:xfrm>
            <a:off x="446250" y="1174325"/>
            <a:ext cx="7962300" cy="3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St. James has experienced significant incidents and safety violations, such as bodily injury, death, and psychological harm.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These outcomes indicate a punitive or inconsistent safety environment where staff may fear reporting errors.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Fear suppresses reporting, allowing latent system failures to remain hidden.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A Just Culture framework is required to rebuild trust, promote transparency, and encourage early detection of deviations.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Creating a predictable and fair accountability structure is essential to rebuilding safety. 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"/>
          <p:cNvSpPr txBox="1"/>
          <p:nvPr>
            <p:ph type="title"/>
          </p:nvPr>
        </p:nvSpPr>
        <p:spPr>
          <a:xfrm>
            <a:off x="469725" y="539500"/>
            <a:ext cx="795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Just Culture Implementation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5" name="Google Shape;395;p46"/>
          <p:cNvSpPr txBox="1"/>
          <p:nvPr/>
        </p:nvSpPr>
        <p:spPr>
          <a:xfrm>
            <a:off x="454400" y="1112200"/>
            <a:ext cx="8223900" cy="3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AutoNum type="arabicPeriod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Implement a non-punitive reporting policy.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Encourages staff engagement and and protects against reprisal.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"/>
              <a:buAutoNum type="arabicPeriod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Annual safe-reporting training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Staff must have the training, resources, and support needed to meet safety expectations.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"/>
              <a:buAutoNum type="arabicPeriod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Standardized accountability and investigation procedures.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Clear protocol on safety incident evaluation to ensure fairness and consistency. 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"/>
              <a:buAutoNum type="arabicPeriod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Adopt a transparent communication and disclosure policy.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Information about incidents, risks, and improvements is shared openly.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/>
          <p:nvPr>
            <p:ph type="title"/>
          </p:nvPr>
        </p:nvSpPr>
        <p:spPr>
          <a:xfrm>
            <a:off x="446250" y="539500"/>
            <a:ext cx="797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Leadership Practices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1" name="Google Shape;401;p47"/>
          <p:cNvSpPr txBox="1"/>
          <p:nvPr/>
        </p:nvSpPr>
        <p:spPr>
          <a:xfrm>
            <a:off x="446250" y="1162575"/>
            <a:ext cx="7962300" cy="3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Leaders must demonstrate visible, sustained commitment to safety.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Daily executive and departmental rounding to identify hazards, listen to staff concerns, and reinforce expectations.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Implement tiered safety huddles support real-time situational awareness across units, hospitals, and the system.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Unit-Level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: Immediate safety concerns, staffing issues, equipment needs.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Hospital-Level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: Escalated risks, resource coordination, performance updates.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Raleway Medium"/>
              <a:buChar char="○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System-Level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: Organization wide trends and high-priority risk mitigation.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8"/>
          <p:cNvSpPr txBox="1"/>
          <p:nvPr>
            <p:ph type="title"/>
          </p:nvPr>
        </p:nvSpPr>
        <p:spPr>
          <a:xfrm>
            <a:off x="446250" y="539500"/>
            <a:ext cx="797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Redundancy Layers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7" name="Google Shape;407;p48"/>
          <p:cNvSpPr txBox="1"/>
          <p:nvPr/>
        </p:nvSpPr>
        <p:spPr>
          <a:xfrm>
            <a:off x="446250" y="1112200"/>
            <a:ext cx="7962300" cy="3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Additional standardized communication tools for healthcare teams. 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Situation, Background, Assessment, Recommendation (SBAR)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: For communication relating to patient’s condition.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Creates structure and predictability.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Read-back/Repeat-back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: For verbal orders and handoffs.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Limits potential errors.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Structured handoffs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: For every transition of care.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Ensures continuity of care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Pre-procedure/Post-procedure briefings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Aligns expectations and identifies areas for improvement. 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9"/>
          <p:cNvSpPr txBox="1"/>
          <p:nvPr>
            <p:ph type="title"/>
          </p:nvPr>
        </p:nvSpPr>
        <p:spPr>
          <a:xfrm>
            <a:off x="446250" y="539500"/>
            <a:ext cx="797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Redundancy Layers: Red Rules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3" name="Google Shape;413;p49"/>
          <p:cNvSpPr txBox="1"/>
          <p:nvPr/>
        </p:nvSpPr>
        <p:spPr>
          <a:xfrm>
            <a:off x="446250" y="1209550"/>
            <a:ext cx="8173200" cy="3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Implementing Red Rules for high-risk processes where deviation can cause severe harm. 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Common Red Rules: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Time-outs before any surgical or invasive procedure.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Verifying patient identity using two approved identifiers.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Bedside specimen labeling.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Surgical instrument and sponge counts. 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Every staff member has the authority and responsibility to stop.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Reinforces shared ownership of safety and prevents catastrophic failures.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 txBox="1"/>
          <p:nvPr>
            <p:ph type="title"/>
          </p:nvPr>
        </p:nvSpPr>
        <p:spPr>
          <a:xfrm>
            <a:off x="4532850" y="1709900"/>
            <a:ext cx="4239000" cy="15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 &amp;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9" name="Google Shape;419;p50" title="discussing-financial-reports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17259" t="0"/>
          <a:stretch/>
        </p:blipFill>
        <p:spPr>
          <a:xfrm>
            <a:off x="775050" y="539500"/>
            <a:ext cx="3625851" cy="4023751"/>
          </a:xfrm>
          <a:prstGeom prst="rect">
            <a:avLst/>
          </a:prstGeom>
        </p:spPr>
      </p:pic>
      <p:sp>
        <p:nvSpPr>
          <p:cNvPr id="420" name="Google Shape;420;p50"/>
          <p:cNvSpPr txBox="1"/>
          <p:nvPr>
            <p:ph idx="4294967295" type="title"/>
          </p:nvPr>
        </p:nvSpPr>
        <p:spPr>
          <a:xfrm>
            <a:off x="4532850" y="5394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 txBox="1"/>
          <p:nvPr>
            <p:ph type="title"/>
          </p:nvPr>
        </p:nvSpPr>
        <p:spPr>
          <a:xfrm>
            <a:off x="481475" y="539500"/>
            <a:ext cx="794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Safety Measurement 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System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6" name="Google Shape;426;p51"/>
          <p:cNvSpPr txBox="1"/>
          <p:nvPr/>
        </p:nvSpPr>
        <p:spPr>
          <a:xfrm>
            <a:off x="466100" y="1112200"/>
            <a:ext cx="8294400" cy="4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Centralized, real-time, user friendly reporting system that is accessible across all hospitals and clinics.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Standardized event classification and process workflow. Staff will be provided training on what to report, how to report, and expectations.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High priority incidents are automatically escalated to leadership for review. 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Captures essential information such as: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Patient safety scorecard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Near misses, drifts, and deviations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Active failures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Unsafe working conditions, equipment malfunctions, etc.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/>
          <p:nvPr>
            <p:ph type="title"/>
          </p:nvPr>
        </p:nvSpPr>
        <p:spPr>
          <a:xfrm>
            <a:off x="446250" y="539500"/>
            <a:ext cx="797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Patient Safety Scorecard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2" name="Google Shape;432;p52"/>
          <p:cNvSpPr txBox="1"/>
          <p:nvPr/>
        </p:nvSpPr>
        <p:spPr>
          <a:xfrm>
            <a:off x="446250" y="1221300"/>
            <a:ext cx="8149800" cy="39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System-wide dashboard to track progress towards lag and lead measures.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Outcome (Lag) Measures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: Reflect harm that has already occurred.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AHRQ Patient Safety Indicators (PSIs): number of incidents per patient days (1,000) or procedures.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■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e.g., falls, postoperative sepsis, or retained surgical item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Serious Safety Event Rate (SSER): events per 10,000 patient days.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CLABSI, CAUTI, C. difficile, serious medication errors.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Raleway Medium"/>
              <a:buChar char="●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Process (Lead) Measures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: Track adherence to staff compliance and safety practices for detailed view of performance.</a:t>
            </a:r>
            <a:endParaRPr sz="16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433" name="Google Shape;43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1700" y="0"/>
            <a:ext cx="1830900" cy="18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Patient Safety Scorecard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39" name="Google Shape;439;p53" title="Screenshot 2025-12-10 at 6.59.42 PM.png"/>
          <p:cNvPicPr preferRelativeResize="0"/>
          <p:nvPr/>
        </p:nvPicPr>
        <p:blipFill rotWithShape="1">
          <a:blip r:embed="rId3">
            <a:alphaModFix/>
          </a:blip>
          <a:srcRect b="0" l="0" r="1545" t="0"/>
          <a:stretch/>
        </p:blipFill>
        <p:spPr>
          <a:xfrm>
            <a:off x="631125" y="1112200"/>
            <a:ext cx="7792876" cy="37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4"/>
          <p:cNvSpPr txBox="1"/>
          <p:nvPr>
            <p:ph type="title"/>
          </p:nvPr>
        </p:nvSpPr>
        <p:spPr>
          <a:xfrm>
            <a:off x="469725" y="539500"/>
            <a:ext cx="795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Retrospective Analysis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5" name="Google Shape;445;p54"/>
          <p:cNvSpPr txBox="1"/>
          <p:nvPr/>
        </p:nvSpPr>
        <p:spPr>
          <a:xfrm>
            <a:off x="454400" y="1244775"/>
            <a:ext cx="7954200" cy="3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Root Cause Analysis (RCA) examines system factors behind active failures. Used to understand why failures occurred and prevent recurrence. 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Ishikawa</a:t>
            </a: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 (</a:t>
            </a: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Fishbone</a:t>
            </a: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) Diagram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: Analyzes people, processes, training, environment, technology, and culture.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5 Whys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: Drills down to the underlying cause by repeatedly asking "why."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Raleway Medium"/>
              <a:buChar char="●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Pareto Chart</a:t>
            </a: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: Identifies the small number of causes driving the majority of failures (80/20 rule).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"/>
          <p:cNvSpPr txBox="1"/>
          <p:nvPr>
            <p:ph type="title"/>
          </p:nvPr>
        </p:nvSpPr>
        <p:spPr>
          <a:xfrm>
            <a:off x="469725" y="539500"/>
            <a:ext cx="795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Prospective Analysis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51" name="Google Shape;451;p55"/>
          <p:cNvSpPr txBox="1"/>
          <p:nvPr/>
        </p:nvSpPr>
        <p:spPr>
          <a:xfrm>
            <a:off x="454400" y="1244775"/>
            <a:ext cx="7954200" cy="3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Identifies vulnerabilities before harm occurs through proactive analysis.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Gemba Observations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Direct observation of staff performing real work in real settings.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Reveals workflow complexity, workarounds, and latent conditions that increase risk.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" sz="1800">
                <a:latin typeface="Raleway"/>
                <a:ea typeface="Raleway"/>
                <a:cs typeface="Raleway"/>
                <a:sym typeface="Raleway"/>
              </a:rPr>
              <a:t>Failure Modes and Effects Analysis (FMEA) 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Maps out high-risk processes step-by-step.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Identifies where failures could occur and their potential impact.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Raleway Medium"/>
              <a:buChar char="○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Prioritizes risks by severity and likelihood.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"/>
          <p:cNvSpPr txBox="1"/>
          <p:nvPr>
            <p:ph type="title"/>
          </p:nvPr>
        </p:nvSpPr>
        <p:spPr>
          <a:xfrm>
            <a:off x="4532850" y="1948525"/>
            <a:ext cx="4244100" cy="19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Management Plan</a:t>
            </a:r>
            <a:endParaRPr/>
          </a:p>
        </p:txBody>
      </p:sp>
      <p:pic>
        <p:nvPicPr>
          <p:cNvPr id="457" name="Google Shape;457;p56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0393" r="37706" t="0"/>
          <a:stretch/>
        </p:blipFill>
        <p:spPr>
          <a:xfrm>
            <a:off x="966724" y="539500"/>
            <a:ext cx="3116199" cy="4064399"/>
          </a:xfrm>
          <a:prstGeom prst="rect">
            <a:avLst/>
          </a:prstGeom>
        </p:spPr>
      </p:pic>
      <p:sp>
        <p:nvSpPr>
          <p:cNvPr id="458" name="Google Shape;458;p56"/>
          <p:cNvSpPr txBox="1"/>
          <p:nvPr>
            <p:ph idx="4294967295" type="title"/>
          </p:nvPr>
        </p:nvSpPr>
        <p:spPr>
          <a:xfrm>
            <a:off x="4532850" y="5394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05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7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Management Plan</a:t>
            </a:r>
            <a:endParaRPr/>
          </a:p>
        </p:txBody>
      </p:sp>
      <p:sp>
        <p:nvSpPr>
          <p:cNvPr id="464" name="Google Shape;464;p57"/>
          <p:cNvSpPr txBox="1"/>
          <p:nvPr>
            <p:ph idx="1" type="subTitle"/>
          </p:nvPr>
        </p:nvSpPr>
        <p:spPr>
          <a:xfrm>
            <a:off x="713225" y="1558450"/>
            <a:ext cx="69519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Provides structure and direction for systemwide change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Reduces resistance and builds staff engagement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Ensures clear communication and aligned expectations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Supports adoption of new behaviors and practices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Prevents regression and promotes long-term sustainability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Utilizes Kotters 8-step Model</a:t>
            </a:r>
            <a:endParaRPr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8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Step 1: Create Urgency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70" name="Google Shape;470;p58"/>
          <p:cNvSpPr txBox="1"/>
          <p:nvPr/>
        </p:nvSpPr>
        <p:spPr>
          <a:xfrm>
            <a:off x="720000" y="1441750"/>
            <a:ext cx="79347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Use real safety metrics as non-negotiable patient safety markers.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Leadership must emphasize the gravity in negative trends to patient safety.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Raleway Medium"/>
              <a:buChar char="●"/>
            </a:pPr>
            <a:r>
              <a:rPr lang="en" sz="1800">
                <a:latin typeface="Raleway Medium"/>
                <a:ea typeface="Raleway Medium"/>
                <a:cs typeface="Raleway Medium"/>
                <a:sym typeface="Raleway Medium"/>
              </a:rPr>
              <a:t>Project how external pressure is putting employee jobs at risk.</a:t>
            </a:r>
            <a:endParaRPr sz="18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9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Step 2: Establish a Guiding Coalition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76" name="Google Shape;476;p59"/>
          <p:cNvSpPr txBox="1"/>
          <p:nvPr>
            <p:ph idx="1" type="subTitle"/>
          </p:nvPr>
        </p:nvSpPr>
        <p:spPr>
          <a:xfrm>
            <a:off x="713225" y="1558450"/>
            <a:ext cx="73476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Select high- credibility leaders across all care sites.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Ensure representation from each hospital and major clinic group to form the core group.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Define shared system-wide goals and expectations.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Define explicit roles, authority, and accountability.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Create a structured meeting schedule.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0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Step 3: Create a Clearer Vision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82" name="Google Shape;482;p60"/>
          <p:cNvSpPr txBox="1"/>
          <p:nvPr>
            <p:ph idx="1" type="subTitle"/>
          </p:nvPr>
        </p:nvSpPr>
        <p:spPr>
          <a:xfrm>
            <a:off x="713225" y="1558450"/>
            <a:ext cx="73308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A concise and clear direction motivates people to act and helps define what success looks like.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“Zero harm, zero defects, and high reliability across all facilities.”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1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Step 4: Communicate the Vision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88" name="Google Shape;488;p61"/>
          <p:cNvSpPr txBox="1"/>
          <p:nvPr>
            <p:ph idx="1" type="subTitle"/>
          </p:nvPr>
        </p:nvSpPr>
        <p:spPr>
          <a:xfrm>
            <a:off x="713225" y="1558450"/>
            <a:ext cx="74013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Persistent, structured communication helps eliminate mistrust, rumor-driven narratives, and resistance to cultural, organizational and social change.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Implement Daily safety meetings.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Implement leadership rounds.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Implement the use of </a:t>
            </a:r>
            <a:r>
              <a:rPr lang="en" sz="1800">
                <a:solidFill>
                  <a:srgbClr val="000000"/>
                </a:solidFill>
              </a:rPr>
              <a:t>daily shift reports.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2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Step 5: Staff Empowerment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4" name="Google Shape;494;p62"/>
          <p:cNvSpPr txBox="1"/>
          <p:nvPr>
            <p:ph idx="1" type="subTitle"/>
          </p:nvPr>
        </p:nvSpPr>
        <p:spPr>
          <a:xfrm>
            <a:off x="713225" y="1558450"/>
            <a:ext cx="74013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Implement a simple, real-time issue-tracking system.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Place issue logs in every unit and require a resolution or resolution attempt </a:t>
            </a:r>
            <a:r>
              <a:rPr lang="en" sz="1800">
                <a:solidFill>
                  <a:srgbClr val="000000"/>
                </a:solidFill>
              </a:rPr>
              <a:t>within 72 hours.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Introduce a Just Culture.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Involve frontline staff in safety redesign.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3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Step 6: Generate Short-Term Wins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00" name="Google Shape;500;p63"/>
          <p:cNvSpPr txBox="1"/>
          <p:nvPr>
            <p:ph idx="1" type="subTitle"/>
          </p:nvPr>
        </p:nvSpPr>
        <p:spPr>
          <a:xfrm>
            <a:off x="713225" y="1558450"/>
            <a:ext cx="78240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Show a significant improvement in CLABSI bundle adherence in one ICU within 1 month.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Expand to another ICU and reassess after 1 month.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Monthly reviews on how many daily </a:t>
            </a:r>
            <a:r>
              <a:rPr lang="en" sz="1800">
                <a:solidFill>
                  <a:srgbClr val="000000"/>
                </a:solidFill>
              </a:rPr>
              <a:t>reports are actually being submitted. An increase of at least 15% can be considered a win.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4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Step 7: Don’t Let Up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06" name="Google Shape;506;p64"/>
          <p:cNvSpPr txBox="1"/>
          <p:nvPr>
            <p:ph idx="1" type="subTitle"/>
          </p:nvPr>
        </p:nvSpPr>
        <p:spPr>
          <a:xfrm>
            <a:off x="713225" y="1558450"/>
            <a:ext cx="7413000" cy="30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Maintain a relentless focus on improvement of key. metrics such as CLABSIs, falls, and near-miss </a:t>
            </a:r>
            <a:r>
              <a:rPr lang="en" sz="1800">
                <a:solidFill>
                  <a:srgbClr val="000000"/>
                </a:solidFill>
              </a:rPr>
              <a:t>reporting rates.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Constant reinforcement of expectations through leadership behavior.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Expansion of successful pilots system-wide.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Strengthening of accountability systems through quarterly reviews.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5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Step 8: Anchor Change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12" name="Google Shape;512;p65"/>
          <p:cNvSpPr txBox="1"/>
          <p:nvPr>
            <p:ph idx="1" type="subTitle"/>
          </p:nvPr>
        </p:nvSpPr>
        <p:spPr>
          <a:xfrm>
            <a:off x="713225" y="1478500"/>
            <a:ext cx="7730100" cy="31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Make </a:t>
            </a:r>
            <a:r>
              <a:rPr lang="en" sz="1800">
                <a:solidFill>
                  <a:srgbClr val="000000"/>
                </a:solidFill>
              </a:rPr>
              <a:t>safety expectations clear during hiring, onboarding, and orientations.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Reinforce safety compliance through performance evaluations.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Prioritization and addressment of safety metrics in all committee and leadership meetings.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Integration of rewards for departments that show compliance and pressure for departments not showing steady improvements. 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6"/>
          <p:cNvSpPr txBox="1"/>
          <p:nvPr>
            <p:ph type="title"/>
          </p:nvPr>
        </p:nvSpPr>
        <p:spPr>
          <a:xfrm>
            <a:off x="4532850" y="1709900"/>
            <a:ext cx="4239000" cy="15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 and Funding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6"/>
          <p:cNvSpPr txBox="1"/>
          <p:nvPr>
            <p:ph idx="4294967295" type="title"/>
          </p:nvPr>
        </p:nvSpPr>
        <p:spPr>
          <a:xfrm>
            <a:off x="4532850" y="5394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19" name="Google Shape;519;p66" title="Wavy_Bus-12_Single-03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10031" r="10031" t="0"/>
          <a:stretch/>
        </p:blipFill>
        <p:spPr>
          <a:xfrm>
            <a:off x="833775" y="539500"/>
            <a:ext cx="3248998" cy="40643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7"/>
          <p:cNvSpPr txBox="1"/>
          <p:nvPr>
            <p:ph type="title"/>
          </p:nvPr>
        </p:nvSpPr>
        <p:spPr>
          <a:xfrm>
            <a:off x="720000" y="4528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sp>
        <p:nvSpPr>
          <p:cNvPr id="525" name="Google Shape;525;p67"/>
          <p:cNvSpPr/>
          <p:nvPr/>
        </p:nvSpPr>
        <p:spPr>
          <a:xfrm>
            <a:off x="8731250" y="2388300"/>
            <a:ext cx="531600" cy="2755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526" name="Google Shape;526;p67"/>
          <p:cNvSpPr/>
          <p:nvPr/>
        </p:nvSpPr>
        <p:spPr>
          <a:xfrm>
            <a:off x="258225" y="1313600"/>
            <a:ext cx="2555100" cy="786600"/>
          </a:xfrm>
          <a:prstGeom prst="chevron">
            <a:avLst>
              <a:gd fmla="val 50000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aleway"/>
                <a:ea typeface="Raleway"/>
                <a:cs typeface="Raleway"/>
                <a:sym typeface="Raleway"/>
              </a:rPr>
              <a:t>Phase 1:</a:t>
            </a:r>
            <a:endParaRPr b="1" sz="1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aleway"/>
                <a:ea typeface="Raleway"/>
                <a:cs typeface="Raleway"/>
                <a:sym typeface="Raleway"/>
              </a:rPr>
              <a:t>Building the Foundation</a:t>
            </a:r>
            <a:endParaRPr b="1" sz="1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27" name="Google Shape;527;p67"/>
          <p:cNvSpPr/>
          <p:nvPr/>
        </p:nvSpPr>
        <p:spPr>
          <a:xfrm>
            <a:off x="2396425" y="1313600"/>
            <a:ext cx="2555100" cy="786600"/>
          </a:xfrm>
          <a:prstGeom prst="chevron">
            <a:avLst>
              <a:gd fmla="val 50000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aleway"/>
                <a:ea typeface="Raleway"/>
                <a:cs typeface="Raleway"/>
                <a:sym typeface="Raleway"/>
              </a:rPr>
              <a:t>Phase 2:</a:t>
            </a:r>
            <a:endParaRPr b="1" sz="1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aleway"/>
                <a:ea typeface="Raleway"/>
                <a:cs typeface="Raleway"/>
                <a:sym typeface="Raleway"/>
              </a:rPr>
              <a:t>Strengthening Safety &amp; Integrity</a:t>
            </a:r>
            <a:endParaRPr b="1" sz="1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28" name="Google Shape;528;p67"/>
          <p:cNvSpPr/>
          <p:nvPr/>
        </p:nvSpPr>
        <p:spPr>
          <a:xfrm>
            <a:off x="4526950" y="1313600"/>
            <a:ext cx="2504700" cy="786600"/>
          </a:xfrm>
          <a:prstGeom prst="chevron">
            <a:avLst>
              <a:gd fmla="val 50000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aleway"/>
                <a:ea typeface="Raleway"/>
                <a:cs typeface="Raleway"/>
                <a:sym typeface="Raleway"/>
              </a:rPr>
              <a:t>Phase 3:</a:t>
            </a:r>
            <a:endParaRPr b="1" sz="1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aleway"/>
                <a:ea typeface="Raleway"/>
                <a:cs typeface="Raleway"/>
                <a:sym typeface="Raleway"/>
              </a:rPr>
              <a:t>Standardization &amp; Measurable Results</a:t>
            </a:r>
            <a:endParaRPr b="1" sz="1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29" name="Google Shape;529;p67"/>
          <p:cNvSpPr/>
          <p:nvPr/>
        </p:nvSpPr>
        <p:spPr>
          <a:xfrm>
            <a:off x="6639300" y="1313600"/>
            <a:ext cx="2504700" cy="786600"/>
          </a:xfrm>
          <a:prstGeom prst="chevron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aleway"/>
                <a:ea typeface="Raleway"/>
                <a:cs typeface="Raleway"/>
                <a:sym typeface="Raleway"/>
              </a:rPr>
              <a:t>Phase 4:</a:t>
            </a:r>
            <a:endParaRPr b="1" sz="13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aleway"/>
                <a:ea typeface="Raleway"/>
                <a:cs typeface="Raleway"/>
                <a:sym typeface="Raleway"/>
              </a:rPr>
              <a:t>High Reliability and Zero-Defect Performance</a:t>
            </a:r>
            <a:endParaRPr b="1" sz="1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30" name="Google Shape;530;p67"/>
          <p:cNvSpPr txBox="1"/>
          <p:nvPr/>
        </p:nvSpPr>
        <p:spPr>
          <a:xfrm>
            <a:off x="369150" y="2192688"/>
            <a:ext cx="19911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Months 0-6</a:t>
            </a:r>
            <a:endParaRPr u="sng">
              <a:solidFill>
                <a:schemeClr val="dk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Establish Urgency, leadership alignment, and essential safety behaviors.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531" name="Google Shape;531;p67"/>
          <p:cNvSpPr txBox="1"/>
          <p:nvPr/>
        </p:nvSpPr>
        <p:spPr>
          <a:xfrm>
            <a:off x="2507351" y="2192680"/>
            <a:ext cx="1991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Months 6-18</a:t>
            </a:r>
            <a:endParaRPr u="sng">
              <a:solidFill>
                <a:schemeClr val="dk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Minimize variation and introduce reliability principles.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532" name="Google Shape;532;p67"/>
          <p:cNvSpPr txBox="1"/>
          <p:nvPr/>
        </p:nvSpPr>
        <p:spPr>
          <a:xfrm>
            <a:off x="4645551" y="2192680"/>
            <a:ext cx="1991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Months 18-36</a:t>
            </a:r>
            <a:endParaRPr u="sng">
              <a:solidFill>
                <a:schemeClr val="dk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Standardize safety practices into daily operations and achieve consistent, measurable improvements. 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533" name="Google Shape;533;p67"/>
          <p:cNvSpPr txBox="1"/>
          <p:nvPr/>
        </p:nvSpPr>
        <p:spPr>
          <a:xfrm>
            <a:off x="6783751" y="2192680"/>
            <a:ext cx="19911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Months 36-60</a:t>
            </a:r>
            <a:endParaRPr u="sng">
              <a:solidFill>
                <a:schemeClr val="dk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Become a successful HRO and maintain zero-defect performance.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8" name="Google Shape;538;p68"/>
          <p:cNvGraphicFramePr/>
          <p:nvPr/>
        </p:nvGraphicFramePr>
        <p:xfrm>
          <a:off x="455925" y="38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{77C5081E-FBD2-4C0C-9C74-7BB37406A5C8}</a:tableStyleId>
              </a:tblPr>
              <a:tblGrid>
                <a:gridCol w="2735000"/>
                <a:gridCol w="2748575"/>
                <a:gridCol w="2748575"/>
              </a:tblGrid>
              <a:tr h="38625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1 (Months 0–6) — Building the Foundation</a:t>
                      </a:r>
                      <a:endParaRPr b="1" sz="13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386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Budget Category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Description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Estimated Cost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386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Systemwide HRO training for all staff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Curriculum, workshops, onboarding modules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$1,200,000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386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Leadership alignment and coaching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Executive coaching, consultant support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$450,000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608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Just Culture introduction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Policy redesign, HR integration, safety communication rollout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$300,000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608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Safety meetings and rounding launch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Standardized rounding tools, scheduling infrastructure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$250,000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608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Process mapping and protocol simplification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Workflow redesign, hazard removal, lean facilitation team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$400,000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608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Guiding Coalition establishment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Protected time for clinical leads and quarterly reviews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$250,000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386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1 Total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$2,850,000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3" name="Google Shape;543;p69"/>
          <p:cNvGraphicFramePr/>
          <p:nvPr/>
        </p:nvGraphicFramePr>
        <p:xfrm>
          <a:off x="343925" y="441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{77C5081E-FBD2-4C0C-9C74-7BB37406A5C8}</a:tableStyleId>
              </a:tblPr>
              <a:tblGrid>
                <a:gridCol w="2809400"/>
                <a:gridCol w="2823375"/>
                <a:gridCol w="2823375"/>
              </a:tblGrid>
              <a:tr h="49680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2 (Months 6–18) — Strengthening Safety and Integrity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49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Budget Category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Description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Cost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496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Standardized clinical protocols systemwide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Policy development and implementation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$1,000,000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7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Hard-stop equipment workflows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Barcode verification, pump lockouts, med scanning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$800,000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496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FMEA and risk analysis program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Analyst team and risk modeling software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$600,000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496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Daily safety reporting system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Digital platform rollout and training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$950,000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496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Safety tracking and near-miss database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Data dashboards, reporting automation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$700,000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496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2 Total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$4,050,000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8" name="Google Shape;548;p70"/>
          <p:cNvGraphicFramePr/>
          <p:nvPr/>
        </p:nvGraphicFramePr>
        <p:xfrm>
          <a:off x="252450" y="409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{77C5081E-FBD2-4C0C-9C74-7BB37406A5C8}</a:tableStyleId>
              </a:tblPr>
              <a:tblGrid>
                <a:gridCol w="2870175"/>
                <a:gridCol w="2884450"/>
                <a:gridCol w="2884450"/>
              </a:tblGrid>
              <a:tr h="50425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3 (Months 18–36) — Standardization and Measurable Results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50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Budget Category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Description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Cost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504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Systemwide safety standardization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Unit checklists, universal protocols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$900,000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504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Leadership performance alignment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KPI incentives tied to reliability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$600,000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793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Data analytics for CLABSI, HAI, falls, med error reduction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Predictive analytics, dashboards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$1,200,000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504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Situational awareness and escalation training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Cognitive unloading, stop-the-line training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$650,000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504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Culture reinforcement programs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Safety recognition, reporting incentives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$450,000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504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3 Total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$3,800,000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" name="Google Shape;553;p71"/>
          <p:cNvGraphicFramePr/>
          <p:nvPr/>
        </p:nvGraphicFramePr>
        <p:xfrm>
          <a:off x="234188" y="360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{77C5081E-FBD2-4C0C-9C74-7BB37406A5C8}</a:tableStyleId>
              </a:tblPr>
              <a:tblGrid>
                <a:gridCol w="2882325"/>
                <a:gridCol w="2896650"/>
                <a:gridCol w="2896650"/>
              </a:tblGrid>
              <a:tr h="58395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4 (Months 36–60) — High Reliability and Zero-Defect Performance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583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Budget Category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Description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Cost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58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Maintenance of HRO competency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Recertification, capability building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$900,000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58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Permanent rounding and event prevention team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Patient safety officers, HRO reliability leads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$1,200,000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91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Rapid issue resolution infrastructure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Escalation workcells, 72-hour closure requirement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$800,000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58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Annual external validation and benchmarking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AHRQ and HRO verification audit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$600,000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58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4 Total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$3,500,000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8" name="Google Shape;558;p72"/>
          <p:cNvGraphicFramePr/>
          <p:nvPr/>
        </p:nvGraphicFramePr>
        <p:xfrm>
          <a:off x="314200" y="40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{77C5081E-FBD2-4C0C-9C74-7BB37406A5C8}</a:tableStyleId>
              </a:tblPr>
              <a:tblGrid>
                <a:gridCol w="2829150"/>
                <a:gridCol w="2843225"/>
                <a:gridCol w="2843225"/>
              </a:tblGrid>
              <a:tr h="438775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Zero-Defect Transformation (5-Year Plan)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438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Phase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Focus Area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latin typeface="Raleway SemiBold"/>
                          <a:ea typeface="Raleway SemiBold"/>
                          <a:cs typeface="Raleway SemiBold"/>
                          <a:sym typeface="Raleway SemiBold"/>
                        </a:rPr>
                        <a:t>Cost Estimate</a:t>
                      </a:r>
                      <a:endParaRPr sz="1200" u="sng">
                        <a:latin typeface="Raleway SemiBold"/>
                        <a:ea typeface="Raleway SemiBold"/>
                        <a:cs typeface="Raleway SemiBold"/>
                        <a:sym typeface="Raleway SemiBold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69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1 (0–6 months)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Foundation, leadership alignment, HRO training, Just Culture rollout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$2.85M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9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2 (6–18 months)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Reliability infrastructure, protocol standardization, FMEA, safety reporting systems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$4.05M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69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3 (18–36 months)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Systemwide standardization, measurable safety improvements, analytics and outcome tracking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$3.80M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69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Phase 4 (36–60 months)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aleway Medium"/>
                          <a:ea typeface="Raleway Medium"/>
                          <a:cs typeface="Raleway Medium"/>
                          <a:sym typeface="Raleway Medium"/>
                        </a:rPr>
                        <a:t>Zero-defect sustainment, rapid-response capability, certification and benchmarking</a:t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$3.50M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Project Total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aleway Medium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$14.2M</a:t>
                      </a:r>
                      <a:endParaRPr b="1" sz="12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3500" marB="63500" marR="63500" marL="63500" anchor="b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3"/>
          <p:cNvSpPr txBox="1"/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64" name="Google Shape;564;p73"/>
          <p:cNvSpPr txBox="1"/>
          <p:nvPr>
            <p:ph idx="1" type="subTitle"/>
          </p:nvPr>
        </p:nvSpPr>
        <p:spPr>
          <a:xfrm>
            <a:off x="698825" y="1531025"/>
            <a:ext cx="77679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Shift from reactive problem-solving to consistent, prevention-focused practices.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Strengthen psychological safety so staff feel comfortable speaking up.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Use fair accountability to support learning rather than blame.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Standardize communication (e.g., checklists, structured handoffs) to keep teams aligned.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Track measurable goals to monitor progress and reinforce reliability.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Maintain strong leadership involvement and frontline support.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Reduce daily operational risks and improve care quality across all sites.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4"/>
          <p:cNvSpPr txBox="1"/>
          <p:nvPr>
            <p:ph type="title"/>
          </p:nvPr>
        </p:nvSpPr>
        <p:spPr>
          <a:xfrm>
            <a:off x="2205675" y="1368375"/>
            <a:ext cx="5272800" cy="20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Thanks for listening!</a:t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Any questions?</a:t>
            </a:r>
            <a:endParaRPr sz="3600"/>
          </a:p>
        </p:txBody>
      </p:sp>
      <p:sp>
        <p:nvSpPr>
          <p:cNvPr id="570" name="Google Shape;570;p74"/>
          <p:cNvSpPr/>
          <p:nvPr/>
        </p:nvSpPr>
        <p:spPr>
          <a:xfrm>
            <a:off x="1382925" y="608900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71" name="Google Shape;571;p74"/>
          <p:cNvGrpSpPr/>
          <p:nvPr/>
        </p:nvGrpSpPr>
        <p:grpSpPr>
          <a:xfrm>
            <a:off x="-181" y="0"/>
            <a:ext cx="645957" cy="5139225"/>
            <a:chOff x="7468800" y="0"/>
            <a:chExt cx="1675200" cy="5139225"/>
          </a:xfrm>
        </p:grpSpPr>
        <p:sp>
          <p:nvSpPr>
            <p:cNvPr id="572" name="Google Shape;572;p74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3" name="Google Shape;573;p74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4" name="Google Shape;574;p74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5" name="Google Shape;575;p74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6" name="Google Shape;576;p74"/>
            <p:cNvSpPr/>
            <p:nvPr/>
          </p:nvSpPr>
          <p:spPr>
            <a:xfrm flipH="1" rot="10800000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74"/>
            <p:cNvSpPr/>
            <p:nvPr/>
          </p:nvSpPr>
          <p:spPr>
            <a:xfrm flipH="1" rot="10800000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8" name="Google Shape;578;p74"/>
            <p:cNvSpPr/>
            <p:nvPr/>
          </p:nvSpPr>
          <p:spPr>
            <a:xfrm flipH="1" rot="10800000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79" name="Google Shape;579;p74"/>
          <p:cNvSpPr/>
          <p:nvPr/>
        </p:nvSpPr>
        <p:spPr>
          <a:xfrm>
            <a:off x="4274500" y="3452475"/>
            <a:ext cx="3076800" cy="5637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uccession Planning Project Proposal by Slidesgo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